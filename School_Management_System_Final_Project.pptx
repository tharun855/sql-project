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8354" y="846910"/>
            <a:ext cx="7772400" cy="1470025"/>
          </a:xfrm>
        </p:spPr>
        <p:txBody>
          <a:bodyPr/>
          <a:lstStyle/>
          <a:p>
            <a:r>
              <a:t>School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>
            <a:normAutofit fontScale="92500"/>
          </a:bodyPr>
          <a:lstStyle/>
          <a:p>
            <a:r>
              <a:rPr dirty="0"/>
              <a:t>Complete SQL Project</a:t>
            </a:r>
          </a:p>
          <a:p>
            <a:r>
              <a:rPr dirty="0"/>
              <a:t>Schema, Data Tables, ERD, and Queries</a:t>
            </a:r>
          </a:p>
          <a:p>
            <a:r>
              <a:rPr dirty="0"/>
              <a:t>Prepared by </a:t>
            </a:r>
            <a:r>
              <a:rPr lang="en-IN" dirty="0"/>
              <a:t>Tharun </a:t>
            </a:r>
            <a:r>
              <a:rPr lang="en-IN" dirty="0" err="1"/>
              <a:t>Gundlapally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CFEE0-9AA3-A5C8-549E-B47BE2FC16D2}"/>
              </a:ext>
            </a:extLst>
          </p:cNvPr>
          <p:cNvSpPr txBox="1"/>
          <p:nvPr/>
        </p:nvSpPr>
        <p:spPr>
          <a:xfrm>
            <a:off x="234892" y="4806892"/>
            <a:ext cx="3632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BATCH NO : JFS-ONR -005 </a:t>
            </a:r>
          </a:p>
          <a:p>
            <a:r>
              <a:rPr lang="en-IN" dirty="0"/>
              <a:t>NAME         : THARUN GUNDLAPALLY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983162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Primary Objective:</a:t>
            </a:r>
          </a:p>
          <a:p>
            <a:pPr lvl="1"/>
            <a:r>
              <a:rPr dirty="0"/>
              <a:t>To design and implement a relational database system that standardizes the management of school records, ensuring data integrity and enabling quick analytical querying.</a:t>
            </a:r>
          </a:p>
          <a:p>
            <a:br>
              <a:rPr dirty="0"/>
            </a:br>
            <a:r>
              <a:rPr dirty="0"/>
              <a:t>Key System Features:</a:t>
            </a:r>
          </a:p>
          <a:p>
            <a:pPr lvl="1"/>
            <a:r>
              <a:rPr dirty="0"/>
              <a:t>• Student Tracking: Maintain accurate personal records.</a:t>
            </a:r>
          </a:p>
          <a:p>
            <a:pPr lvl="1"/>
            <a:r>
              <a:rPr dirty="0"/>
              <a:t>• Curriculum Management: Standardize subject offerings.</a:t>
            </a:r>
          </a:p>
          <a:p>
            <a:pPr lvl="1"/>
            <a:r>
              <a:rPr dirty="0"/>
              <a:t>• Examination Cycles: Log specific evaluation events.</a:t>
            </a:r>
          </a:p>
          <a:p>
            <a:pPr lvl="1"/>
            <a:r>
              <a:rPr dirty="0"/>
              <a:t>• Performance Analytics: Link students and exams via numerical scores to compute averages, pass/fail rates, and top performers.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Initialization (DDL)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Creating the Foundation</a:t>
            </a:r>
          </a:p>
          <a:p>
            <a:pPr lvl="1">
              <a:defRPr sz="1400">
                <a:latin typeface="Courier New"/>
              </a:defRPr>
            </a:pPr>
            <a:r>
              <a:t>CREATE DATABASE school_management_system;</a:t>
            </a:r>
            <a:br/>
            <a:r>
              <a:t>USE school_management_system;</a:t>
            </a:r>
          </a:p>
          <a:p>
            <a:br/>
            <a:r>
              <a:t>Table Structures:</a:t>
            </a:r>
          </a:p>
          <a:p>
            <a:pPr lvl="1">
              <a:defRPr sz="1200">
                <a:latin typeface="Courier New"/>
              </a:defRPr>
            </a:pPr>
            <a:r>
              <a:t>CREATE TABLE Students (student_id INT PRIMARY KEY, first_name VARCHAR(50), last_name VARCHAR(50));</a:t>
            </a:r>
          </a:p>
          <a:p>
            <a:pPr lvl="1">
              <a:defRPr sz="1200">
                <a:latin typeface="Courier New"/>
              </a:defRPr>
            </a:pPr>
            <a:r>
              <a:t>CREATE TABLE Marks (</a:t>
            </a:r>
            <a:br/>
            <a:r>
              <a:t>    mark_id INT PRIMARY KEY,</a:t>
            </a:r>
            <a:br/>
            <a:r>
              <a:t>    student_id INT, subject_id INT, exam_id INT, score INT,</a:t>
            </a:r>
            <a:br/>
            <a:r>
              <a:t>    FOREIGN KEY (student_id) REFERENCES Students(student_id),</a:t>
            </a:r>
            <a:br/>
            <a:r>
              <a:t>    ... 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(ER Diagram)</a:t>
            </a:r>
          </a:p>
        </p:txBody>
      </p:sp>
      <p:pic>
        <p:nvPicPr>
          <p:cNvPr id="3" name="Picture 2" descr="er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8292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Data: Dimension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STUDENTS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first_name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last_name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Yadagiri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Narsimha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Mallaiah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Padma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Laxman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Konda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Vikram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Sunitha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Kiran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Chandraiah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0" y="1371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SUBJECTS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subject_id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subject_name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Mathematics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Social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Sample Data: Events &amp;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EXAMS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exam_id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exam_name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exam_date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Half-Yearly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2024-09-15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2024-03-20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MARKS TABLE (Top 10 of 31 Records)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828800"/>
          <a:ext cx="4114800" cy="419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mark_id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subject_id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exam_id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(1-2)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1. Retrieve all students</a:t>
            </a:r>
          </a:p>
          <a:p>
            <a:pPr>
              <a:defRPr sz="1300">
                <a:latin typeface="Courier New"/>
              </a:defRPr>
            </a:pPr>
            <a:r>
              <a:t>SELECT first_name, last_name</a:t>
            </a:r>
            <a:br/>
            <a:r>
              <a:t>FROM Students;</a:t>
            </a:r>
          </a:p>
          <a:p>
            <a:endParaRPr/>
          </a:p>
          <a:p>
            <a:pPr>
              <a:defRPr sz="1600" b="1"/>
            </a:pPr>
            <a:r>
              <a:t>2. Filter scores greater than 80</a:t>
            </a:r>
          </a:p>
          <a:p>
            <a:pPr>
              <a:defRPr sz="1300">
                <a:latin typeface="Courier New"/>
              </a:defRPr>
            </a:pPr>
            <a:r>
              <a:t>SELECT *</a:t>
            </a:r>
            <a:br/>
            <a:r>
              <a:t>FROM Marks</a:t>
            </a:r>
            <a:br/>
            <a:r>
              <a:t>WHERE score &gt; 80;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(3-4)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3. Sort exams by date</a:t>
            </a:r>
          </a:p>
          <a:p>
            <a:pPr>
              <a:defRPr sz="1300">
                <a:latin typeface="Courier New"/>
              </a:defRPr>
            </a:pPr>
            <a:r>
              <a:t>SELECT *</a:t>
            </a:r>
            <a:br/>
            <a:r>
              <a:t>FROM Exams</a:t>
            </a:r>
            <a:br/>
            <a:r>
              <a:t>ORDER BY exam_date DESC;</a:t>
            </a:r>
          </a:p>
          <a:p>
            <a:endParaRPr/>
          </a:p>
          <a:p>
            <a:pPr>
              <a:defRPr sz="1600" b="1"/>
            </a:pPr>
            <a:r>
              <a:t>4. Student marks details</a:t>
            </a:r>
          </a:p>
          <a:p>
            <a:pPr>
              <a:defRPr sz="1300">
                <a:latin typeface="Courier New"/>
              </a:defRPr>
            </a:pPr>
            <a:r>
              <a:t>SELECT st.first_name, st.last_name, su.subject_name, m.score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JOIN Subjects AS su ON m.subject_id = su.subject_id;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(5-6)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5. Subject averages</a:t>
            </a:r>
          </a:p>
          <a:p>
            <a:pPr>
              <a:defRPr sz="1300">
                <a:latin typeface="Courier New"/>
              </a:defRPr>
            </a:pPr>
            <a:r>
              <a:t>SELECT su.subject_name, ROUND(AVG(m.score), 2) AS average_score</a:t>
            </a:r>
            <a:br/>
            <a:r>
              <a:t>FROM Marks AS m</a:t>
            </a:r>
            <a:br/>
            <a:r>
              <a:t>JOIN Subjects AS su ON m.subject_id = su.subject_id</a:t>
            </a:r>
            <a:br/>
            <a:r>
              <a:t>GROUP BY su.subject_id, su.subject_name;</a:t>
            </a:r>
          </a:p>
          <a:p>
            <a:endParaRPr/>
          </a:p>
          <a:p>
            <a:pPr>
              <a:defRPr sz="1600" b="1"/>
            </a:pPr>
            <a:r>
              <a:t>6. Count marks for a student</a:t>
            </a:r>
          </a:p>
          <a:p>
            <a:pPr>
              <a:defRPr sz="1300">
                <a:latin typeface="Courier New"/>
              </a:defRPr>
            </a:pPr>
            <a:r>
              <a:t>SELECT COUNT(m.mark_id) AS total_marks_records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WHERE st.first_name = 'Yadagiri' AND st.last_name = 'Goud';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(7-8)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7. Top performer</a:t>
            </a:r>
          </a:p>
          <a:p>
            <a:pPr>
              <a:defRPr sz="1300">
                <a:latin typeface="Courier New"/>
              </a:defRPr>
            </a:pPr>
            <a:r>
              <a:t>SELECT st.first_name, st.last_name, m.score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ORDER BY m.score DESC</a:t>
            </a:r>
            <a:br/>
            <a:r>
              <a:t>LIMIT 1;</a:t>
            </a:r>
          </a:p>
          <a:p>
            <a:endParaRPr/>
          </a:p>
          <a:p>
            <a:pPr>
              <a:defRPr sz="1600" b="1"/>
            </a:pPr>
            <a:r>
              <a:t>8. Pass / Fail Label</a:t>
            </a:r>
          </a:p>
          <a:p>
            <a:pPr>
              <a:defRPr sz="1300">
                <a:latin typeface="Courier New"/>
              </a:defRPr>
            </a:pPr>
            <a:r>
              <a:t>SELECT st.first_name, st.last_name, su.subject_name, m.score,</a:t>
            </a:r>
            <a:br/>
            <a:r>
              <a:t>  CASE</a:t>
            </a:r>
            <a:br/>
            <a:r>
              <a:t>    WHEN m.score &gt;= 70 THEN 'Pass'</a:t>
            </a:r>
            <a:br/>
            <a:r>
              <a:t>    ELSE 'Fail'</a:t>
            </a:r>
            <a:br/>
            <a:r>
              <a:t>  END AS status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JOIN Subjects AS su ON m.subject_id = su.subject_id;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 (9-10)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9. Total score per student</a:t>
            </a:r>
          </a:p>
          <a:p>
            <a:pPr>
              <a:defRPr sz="1300">
                <a:latin typeface="Courier New"/>
              </a:defRPr>
            </a:pPr>
            <a:r>
              <a:t>SELECT st.student_id, st.first_name, st.last_name, SUM(m.score) AS total_score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GROUP BY st.student_id, st.first_name, st.last_name;</a:t>
            </a:r>
          </a:p>
          <a:p>
            <a:endParaRPr/>
          </a:p>
          <a:p>
            <a:pPr>
              <a:defRPr sz="1600" b="1"/>
            </a:pPr>
            <a:r>
              <a:t>10. Subjects with avg score &lt; 75</a:t>
            </a:r>
          </a:p>
          <a:p>
            <a:pPr>
              <a:defRPr sz="1300">
                <a:latin typeface="Courier New"/>
              </a:defRPr>
            </a:pPr>
            <a:r>
              <a:t>SELECT su.subject_name, AVG(m.score) AS avg_score</a:t>
            </a:r>
            <a:br/>
            <a:r>
              <a:t>FROM Marks AS m</a:t>
            </a:r>
            <a:br/>
            <a:r>
              <a:t>JOIN Subjects AS su ON m.subject_id = su.subject_id</a:t>
            </a:r>
            <a:br/>
            <a:r>
              <a:t>GROUP BY su.subject_id, su.subject_name</a:t>
            </a:r>
            <a:br/>
            <a:r>
              <a:t>HAVING AVG(m.score) &lt; 75;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Queries (11-12)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EXTRA 1: Count total students</a:t>
            </a:r>
          </a:p>
          <a:p>
            <a:pPr>
              <a:defRPr sz="1300">
                <a:latin typeface="Courier New"/>
              </a:defRPr>
            </a:pPr>
            <a:r>
              <a:t>SELECT COUNT(*) AS total_students</a:t>
            </a:r>
            <a:br/>
            <a:r>
              <a:t>FROM Students;</a:t>
            </a:r>
          </a:p>
          <a:p>
            <a:endParaRPr/>
          </a:p>
          <a:p>
            <a:pPr>
              <a:defRPr sz="1600" b="1"/>
            </a:pPr>
            <a:r>
              <a:t>EXTRA 2: Count total subjects</a:t>
            </a:r>
          </a:p>
          <a:p>
            <a:pPr>
              <a:defRPr sz="1300">
                <a:latin typeface="Courier New"/>
              </a:defRPr>
            </a:pPr>
            <a:r>
              <a:t>SELECT COUNT(*) AS total_subjects</a:t>
            </a:r>
            <a:br/>
            <a:r>
              <a:t>FROM Subjects;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Queries (13-14)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EXTRA 3: Find scores of 90 or above</a:t>
            </a:r>
          </a:p>
          <a:p>
            <a:pPr>
              <a:defRPr sz="1300">
                <a:latin typeface="Courier New"/>
              </a:defRPr>
            </a:pPr>
            <a:r>
              <a:t>SELECT st.first_name, st.last_name, su.subject_name, m.score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JOIN Subjects AS su ON m.subject_id = su.subject_id</a:t>
            </a:r>
            <a:br/>
            <a:r>
              <a:t>WHERE m.score &gt;= 90</a:t>
            </a:r>
            <a:br/>
            <a:r>
              <a:t>ORDER BY m.score DESC;</a:t>
            </a:r>
          </a:p>
          <a:p>
            <a:endParaRPr/>
          </a:p>
          <a:p>
            <a:pPr>
              <a:defRPr sz="1600" b="1"/>
            </a:pPr>
            <a:r>
              <a:t>EXTRA 4: Find scores below 35</a:t>
            </a:r>
          </a:p>
          <a:p>
            <a:pPr>
              <a:defRPr sz="1300">
                <a:latin typeface="Courier New"/>
              </a:defRPr>
            </a:pPr>
            <a:r>
              <a:t>SELECT st.first_name, st.last_name, su.subject_name, m.score</a:t>
            </a:r>
            <a:br/>
            <a:r>
              <a:t>FROM Marks AS m</a:t>
            </a:r>
            <a:br/>
            <a:r>
              <a:t>JOIN Students AS st ON m.student_id = st.student_id</a:t>
            </a:r>
            <a:br/>
            <a:r>
              <a:t>JOIN Subjects AS su ON m.subject_id = su.subject_id</a:t>
            </a:r>
            <a:br/>
            <a:r>
              <a:t>WHERE m.score &lt; 35;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6586"/>
            <a:ext cx="8229600" cy="5387829"/>
          </a:xfrm>
        </p:spPr>
        <p:txBody>
          <a:bodyPr>
            <a:normAutofit lnSpcReduction="10000"/>
          </a:bodyPr>
          <a:lstStyle/>
          <a:p>
            <a:r>
              <a:rPr dirty="0"/>
              <a:t>Summary:</a:t>
            </a:r>
          </a:p>
          <a:p>
            <a:pPr lvl="1"/>
            <a:r>
              <a:rPr dirty="0"/>
              <a:t>The School Management System successfully models a scalable relational architecture for tracking student academics.</a:t>
            </a:r>
          </a:p>
          <a:p>
            <a:br>
              <a:rPr dirty="0"/>
            </a:br>
            <a:r>
              <a:rPr dirty="0"/>
              <a:t>Key Takeaways:</a:t>
            </a:r>
          </a:p>
          <a:p>
            <a:pPr lvl="1"/>
            <a:r>
              <a:rPr dirty="0"/>
              <a:t>• Effectively normalized tables (Students, Subjects, Exams) reduce data redundancy.</a:t>
            </a:r>
          </a:p>
          <a:p>
            <a:pPr lvl="1"/>
            <a:r>
              <a:rPr dirty="0"/>
              <a:t>• The Marks transaction table acts as the core hub for generating academic metrics.</a:t>
            </a:r>
          </a:p>
          <a:p>
            <a:pPr lvl="1"/>
            <a:r>
              <a:rPr dirty="0"/>
              <a:t>• Advanced SQL operations empower precise performance insights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1224</Words>
  <Application>Microsoft Office PowerPoint</Application>
  <PresentationFormat>On-screen Show (4:3)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School Management System</vt:lpstr>
      <vt:lpstr>Project Overview &amp; Objectives</vt:lpstr>
      <vt:lpstr>Database Initialization (DDL)</vt:lpstr>
      <vt:lpstr>Database Schema (ER Diagram)</vt:lpstr>
      <vt:lpstr>Sample Data: Dimension Tables</vt:lpstr>
      <vt:lpstr>Sample Data: Events &amp; Transactions</vt:lpstr>
      <vt:lpstr>SQL Queries (1-2)</vt:lpstr>
      <vt:lpstr>SQL Queries (3-4)</vt:lpstr>
      <vt:lpstr>SQL Queries (5-6)</vt:lpstr>
      <vt:lpstr>SQL Queries (7-8)</vt:lpstr>
      <vt:lpstr>SQL Queries (9-10)</vt:lpstr>
      <vt:lpstr> Queries (11-12)</vt:lpstr>
      <vt:lpstr> Queries (13-14)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Tharun</dc:creator>
  <cp:keywords/>
  <dc:description>generated using python-pptx</dc:description>
  <cp:lastModifiedBy>THARUN RAMCHAD</cp:lastModifiedBy>
  <cp:revision>2</cp:revision>
  <dcterms:created xsi:type="dcterms:W3CDTF">2013-01-27T09:14:16Z</dcterms:created>
  <dcterms:modified xsi:type="dcterms:W3CDTF">2026-10-27T04:11:39Z</dcterms:modified>
  <cp:category/>
</cp:coreProperties>
</file>